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94360"/>
            <a:ext cx="1092708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092708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Программный комплекс</a:t>
            </a:r>
            <a:br/>
            <a:r>
              <a:t>оценки эффективности</a:t>
            </a:r>
            <a:br/>
            <a:r>
              <a:t>энергооборудования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74320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rial"/>
              </a:defRPr>
            </a:pPr>
            <a:r>
              <a:t>Клиент–серверное приложение на PyQt6 + FastAPI</a:t>
            </a:r>
          </a:p>
          <a:p>
            <a:pPr>
              <a:defRPr sz="1600">
                <a:solidFill>
                  <a:srgbClr val="475569"/>
                </a:solidFill>
                <a:latin typeface="Arial"/>
              </a:defRPr>
            </a:pPr>
            <a:r>
              <a:t>Расчет режимов работы, аудит, хранение данных, экспорт отчетов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234440"/>
            <a:ext cx="26517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1234440"/>
            <a:ext cx="265176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399032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Стек</a:t>
            </a:r>
          </a:p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Python</a:t>
            </a:r>
            <a:br/>
            <a:r>
              <a:t>PyQt6</a:t>
            </a:r>
            <a:br/>
            <a:r>
              <a:t>FastAPI</a:t>
            </a:r>
            <a:br/>
            <a:r>
              <a:t>SQLite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697480"/>
            <a:ext cx="26517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2697480"/>
            <a:ext cx="265176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862072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Качество</a:t>
            </a:r>
          </a:p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47 тестов</a:t>
            </a:r>
            <a:br/>
            <a:r>
              <a:t>47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160520"/>
            <a:ext cx="26517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4160520"/>
            <a:ext cx="265176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4325112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Артефакты</a:t>
            </a:r>
          </a:p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PPTX</a:t>
            </a:r>
            <a:br/>
            <a:r>
              <a:t>UML PNG</a:t>
            </a:r>
            <a:br/>
            <a:r>
              <a:t>Архив проекта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презентация для защиты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План выступления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Короткая логика защиты проекта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65276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99032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1. Постановка задачи</a:t>
            </a:r>
          </a:p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Что требовалось по ТЗ и какие результаты формирует система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76272"/>
            <a:ext cx="10652760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76272"/>
            <a:ext cx="1065276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340864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2. Архитектура</a:t>
            </a:r>
          </a:p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Клиент, сервер, расчетное ядро, хранение и аудит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18104"/>
            <a:ext cx="10652760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118104"/>
            <a:ext cx="1065276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28269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3. Безопасность</a:t>
            </a:r>
          </a:p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Парольная политика, роли, блокировки, API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59935"/>
            <a:ext cx="10652760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059935"/>
            <a:ext cx="1065276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224527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4. Ключевые сценарии</a:t>
            </a:r>
          </a:p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Вход в систему и запуск расчета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01768"/>
            <a:ext cx="10652760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001768"/>
            <a:ext cx="1065276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516636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5. Итоги</a:t>
            </a:r>
          </a:p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Исправления review, тесты и готовность к демонстрации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защита проекта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Цель и основные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Что реализовано в рамках контрольной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9728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475569"/>
                </a:solidFill>
                <a:latin typeface="Arial"/>
              </a:defRPr>
            </a:pPr>
            <a:r>
              <a:t>Оценка эффективности и энергетических показателей энергооборудования.</a:t>
            </a:r>
          </a:p>
          <a:p>
            <a:pPr>
              <a:spcAft>
                <a:spcPts val="500"/>
              </a:spcAft>
              <a:defRPr sz="1800">
                <a:solidFill>
                  <a:srgbClr val="475569"/>
                </a:solidFill>
                <a:latin typeface="Arial"/>
              </a:defRPr>
            </a:pPr>
            <a:r>
              <a:t>Оптимизация разрежения в конденсаторе турбины для выбора наиболее эффективного режима.</a:t>
            </a:r>
          </a:p>
          <a:p>
            <a:pPr>
              <a:spcAft>
                <a:spcPts val="500"/>
              </a:spcAft>
              <a:defRPr sz="1800">
                <a:solidFill>
                  <a:srgbClr val="475569"/>
                </a:solidFill>
                <a:latin typeface="Arial"/>
              </a:defRPr>
            </a:pPr>
            <a:r>
              <a:t>Учет варьируемых параметров: электрическая нагрузка, число работающих блоков, температура, влажность, скорость и направление ветра.</a:t>
            </a:r>
          </a:p>
          <a:p>
            <a:pPr>
              <a:spcAft>
                <a:spcPts val="500"/>
              </a:spcAft>
              <a:defRPr sz="1800">
                <a:solidFill>
                  <a:srgbClr val="475569"/>
                </a:solidFill>
                <a:latin typeface="Arial"/>
              </a:defRPr>
            </a:pPr>
            <a:r>
              <a:t>Визуализация графиков зависимости теплоотводящей способности от температуры наружного воздуха.</a:t>
            </a:r>
          </a:p>
          <a:p>
            <a:pPr>
              <a:spcAft>
                <a:spcPts val="500"/>
              </a:spcAft>
              <a:defRPr sz="1800">
                <a:solidFill>
                  <a:srgbClr val="475569"/>
                </a:solidFill>
                <a:latin typeface="Arial"/>
              </a:defRPr>
            </a:pPr>
            <a:r>
              <a:t>Формирование выходных показателей: нагрузка, КПД блока, КПД ТЭС брутто/нетто, собственные нужды, удельный расход топлива.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983480"/>
            <a:ext cx="3749039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4983480"/>
            <a:ext cx="3749039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2671" y="5148072"/>
            <a:ext cx="342899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Итог</a:t>
            </a:r>
          </a:p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Система готова для демонстрации преподавателю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защита проекта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325880"/>
            <a:ext cx="1078992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201168" cy="388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94560"/>
            <a:ext cx="9601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Архитектура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29718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rial"/>
              </a:defRPr>
            </a:pPr>
            <a:r>
              <a:t>Логически система разделена на клиент, сервер, расчетное ядро, аудит и хранилище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защита проекта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Компонентная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Основные подсистемы и их связи</a:t>
            </a:r>
          </a:p>
        </p:txBody>
      </p:sp>
      <p:pic>
        <p:nvPicPr>
          <p:cNvPr id="5" name="Picture 4" descr="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92840" cy="64106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защита проекта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Среда функционирования и интеграционные потоки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Клиентское приложение, API, БД и журналы</a:t>
            </a:r>
          </a:p>
        </p:txBody>
      </p:sp>
      <p:pic>
        <p:nvPicPr>
          <p:cNvPr id="5" name="Picture 4" descr="deploym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27425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защита проекта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325880"/>
            <a:ext cx="1078992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201168" cy="388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94560"/>
            <a:ext cx="9601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Безопасность и контроль доступа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29718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rial"/>
              </a:defRPr>
            </a:pPr>
            <a:r>
              <a:t>Реализованы требования парольной политики, ролей и аудита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защита проекта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Аутентификация и авторизация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Ключевые механизмы защиты по ТЗ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4864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475569"/>
                </a:solidFill>
                <a:latin typeface="Arial"/>
              </a:defRPr>
            </a:pPr>
            <a:r>
              <a:t>Роли: пользователь и администратор; сценарии и возможности различаются в GUI и API.</a:t>
            </a:r>
          </a:p>
          <a:p>
            <a:pPr>
              <a:spcAft>
                <a:spcPts val="500"/>
              </a:spcAft>
              <a:defRPr sz="1700">
                <a:solidFill>
                  <a:srgbClr val="475569"/>
                </a:solidFill>
                <a:latin typeface="Arial"/>
              </a:defRPr>
            </a:pPr>
            <a:r>
              <a:t>Пароль скрыт при вводе; поддержана обязательная смена первичного пароля.</a:t>
            </a:r>
          </a:p>
          <a:p>
            <a:pPr>
              <a:spcAft>
                <a:spcPts val="500"/>
              </a:spcAft>
              <a:defRPr sz="1700">
                <a:solidFill>
                  <a:srgbClr val="475569"/>
                </a:solidFill>
                <a:latin typeface="Arial"/>
              </a:defRPr>
            </a:pPr>
            <a:r>
              <a:t>После 3 неверных попыток учетная запись блокируется на 15 минут.</a:t>
            </a:r>
          </a:p>
          <a:p>
            <a:pPr>
              <a:spcAft>
                <a:spcPts val="500"/>
              </a:spcAft>
              <a:defRPr sz="1700">
                <a:solidFill>
                  <a:srgbClr val="475569"/>
                </a:solidFill>
                <a:latin typeface="Arial"/>
              </a:defRPr>
            </a:pPr>
            <a:r>
              <a:t>Парольная политика различается для пользователей и администраторов.</a:t>
            </a:r>
          </a:p>
          <a:p>
            <a:pPr>
              <a:spcAft>
                <a:spcPts val="500"/>
              </a:spcAft>
              <a:defRPr sz="1700">
                <a:solidFill>
                  <a:srgbClr val="475569"/>
                </a:solidFill>
                <a:latin typeface="Arial"/>
              </a:defRPr>
            </a:pPr>
            <a:r>
              <a:t>API использует проверку токенов, rate limiting и регистрацию событий безопасности.</a:t>
            </a:r>
          </a:p>
        </p:txBody>
      </p:sp>
      <p:pic>
        <p:nvPicPr>
          <p:cNvPr id="6" name="Picture 5" descr="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074920" cy="46928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защита проекта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Подсистема аудита и логирования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Финальная версия после review и рефакторинга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35024"/>
            <a:ext cx="53035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Фиксируются входы/выходы, изменения данных, действия администратора и вызовы API.</a:t>
            </a:r>
          </a:p>
          <a:p>
            <a:pPr>
              <a:spcAft>
                <a:spcPts val="5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События пишутся в SQLite, файл и при необходимости ставятся в очередь удаленной отправки.</a:t>
            </a:r>
          </a:p>
          <a:p>
            <a:pPr>
              <a:spcAft>
                <a:spcPts val="5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Список audit sink-каналов больше не захардкожен: используется реестр и декоратор @register_audit_sink(order=...).</a:t>
            </a:r>
          </a:p>
          <a:p>
            <a:pPr>
              <a:spcAft>
                <a:spcPts val="5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Такой подход упрощает расширение — новый канал можно добавить без изменения get_audit_sinks().</a:t>
            </a:r>
          </a:p>
        </p:txBody>
      </p:sp>
      <p:pic>
        <p:nvPicPr>
          <p:cNvPr id="6" name="Picture 5" descr="audit_sink_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17320"/>
            <a:ext cx="5349240" cy="13220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защита проекта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325880"/>
            <a:ext cx="1078992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201168" cy="3886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94560"/>
            <a:ext cx="9601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Ключевые пользовательские сценарии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29718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rial"/>
              </a:defRPr>
            </a:pPr>
            <a:r>
              <a:t>Покажем, как работает вход и как выполняется расчет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защита проекта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Сценарий входа в систему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От GUI до AuthService и SessionManager</a:t>
            </a:r>
          </a:p>
        </p:txBody>
      </p:sp>
      <p:pic>
        <p:nvPicPr>
          <p:cNvPr id="5" name="Picture 4" descr="sequence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92840" cy="2311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защита проекта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Сценарий расчета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От ввода параметров до получения расчетного результата</a:t>
            </a:r>
          </a:p>
        </p:txBody>
      </p:sp>
      <p:pic>
        <p:nvPicPr>
          <p:cNvPr id="5" name="Picture 4" descr="sequence_calc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84280" cy="27475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защита проекта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Ключевые классы и интерфейсы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Основные сущности Auth, Audit и клиентской части</a:t>
            </a:r>
          </a:p>
        </p:txBody>
      </p:sp>
      <p:pic>
        <p:nvPicPr>
          <p:cNvPr id="5" name="Picture 4" descr="class_diagram_simpl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338560" cy="24713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защита проекта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Что было улучшено по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На что стоит обратить внимание при защите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52044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352044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Security fixes</a:t>
            </a:r>
          </a:p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Убраны hardcode-пароли, улучшена парольная политика и защита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52044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352044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90472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Architecture fixes</a:t>
            </a:r>
          </a:p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Введены IUserRepository, sink-based audit и registry для расширяемости.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325880"/>
            <a:ext cx="352044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325880"/>
            <a:ext cx="352044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1" y="1490472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GUI fixes</a:t>
            </a:r>
          </a:p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Явный logout, разделение ролей в интерфейсе и просмотр аудита.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105156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475569"/>
                </a:solidFill>
                <a:latin typeface="Arial"/>
              </a:defRPr>
            </a:pPr>
            <a:r>
              <a:t>Исправлены замечания из code review и security review.</a:t>
            </a:r>
          </a:p>
          <a:p>
            <a:pPr>
              <a:spcAft>
                <a:spcPts val="500"/>
              </a:spcAft>
              <a:defRPr sz="1900">
                <a:solidFill>
                  <a:srgbClr val="475569"/>
                </a:solidFill>
                <a:latin typeface="Arial"/>
              </a:defRPr>
            </a:pPr>
            <a:r>
              <a:t>UML и презентация обновлены под фактическое состояние кода.</a:t>
            </a:r>
          </a:p>
          <a:p>
            <a:pPr>
              <a:spcAft>
                <a:spcPts val="500"/>
              </a:spcAft>
              <a:defRPr sz="1900">
                <a:solidFill>
                  <a:srgbClr val="475569"/>
                </a:solidFill>
                <a:latin typeface="Arial"/>
              </a:defRPr>
            </a:pPr>
            <a:r>
              <a:t>Проект можно показывать как завершенное учебное решение с хорошей архитектурной проработкой.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защита проекта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005840"/>
            <a:ext cx="10607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005840"/>
            <a:ext cx="10607040" cy="1645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Arial"/>
              </a:defRPr>
            </a:pPr>
            <a:r>
              <a:t>Итог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743200"/>
            <a:ext cx="932688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Требования ТЗ реализованы: расчеты, GUI, серверная часть, аутентификация, аудит, хранение данных и экспорт.</a:t>
            </a:r>
          </a:p>
          <a:p>
            <a:pPr>
              <a:spcAft>
                <a:spcPts val="5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Подготовлены актуальные UML-диаграммы и презентация для защиты.</a:t>
            </a:r>
          </a:p>
          <a:p>
            <a:pPr>
              <a:spcAft>
                <a:spcPts val="500"/>
              </a:spcAft>
              <a:defRPr sz="2000">
                <a:solidFill>
                  <a:srgbClr val="475569"/>
                </a:solidFill>
                <a:latin typeface="Arial"/>
              </a:defRPr>
            </a:pPr>
            <a:r>
              <a:t>Качество подтверждено тестами: 47 passed.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48920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Arial"/>
              </a:defRPr>
            </a:pPr>
            <a:r>
              <a:t>Спасибо за внимание!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Energy System • финальная защита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Зимний и летний режимы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046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Явное разделение режимов добавлено в GUI, API и расчетное ядро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4892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475569"/>
                </a:solidFill>
                <a:latin typeface="Arial"/>
              </a:defRPr>
            </a:pPr>
            <a:r>
              <a:t>Пользователь выбирает режим: auto, winter или summer.</a:t>
            </a:r>
          </a:p>
          <a:p>
            <a:pPr>
              <a:spcAft>
                <a:spcPts val="500"/>
              </a:spcAft>
              <a:defRPr sz="1700">
                <a:solidFill>
                  <a:srgbClr val="475569"/>
                </a:solidFill>
                <a:latin typeface="Arial"/>
              </a:defRPr>
            </a:pPr>
            <a:r>
              <a:t>auto определяет режим по температуре: ниже 5 °C — winter, иначе summer.</a:t>
            </a:r>
          </a:p>
          <a:p>
            <a:pPr>
              <a:spcAft>
                <a:spcPts val="500"/>
              </a:spcAft>
              <a:defRPr sz="1700">
                <a:solidFill>
                  <a:srgbClr val="475569"/>
                </a:solidFill>
                <a:latin typeface="Arial"/>
              </a:defRPr>
            </a:pPr>
            <a:r>
              <a:t>Режим влияет на теплоотводящую способность и собственные нужды.</a:t>
            </a:r>
          </a:p>
          <a:p>
            <a:pPr>
              <a:spcAft>
                <a:spcPts val="500"/>
              </a:spcAft>
              <a:defRPr sz="1700">
                <a:solidFill>
                  <a:srgbClr val="475569"/>
                </a:solidFill>
                <a:latin typeface="Arial"/>
              </a:defRPr>
            </a:pPr>
            <a:r>
              <a:t>Фактически примененный режим возвращается в CalculationResult.operation_mode.</a:t>
            </a:r>
          </a:p>
          <a:p>
            <a:pPr>
              <a:spcAft>
                <a:spcPts val="500"/>
              </a:spcAft>
              <a:defRPr sz="1700">
                <a:solidFill>
                  <a:srgbClr val="475569"/>
                </a:solidFill>
                <a:latin typeface="Arial"/>
              </a:defRPr>
            </a:pPr>
            <a:r>
              <a:t>Режим отображается в окне результатов и экспортируется в CSV/PPTX.</a:t>
            </a:r>
          </a:p>
        </p:txBody>
      </p:sp>
      <p:pic>
        <p:nvPicPr>
          <p:cNvPr id="6" name="Picture 5" descr="season_mod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715000" cy="3031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